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11831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Bloc 2 – Azure</a:t>
            </a:r>
          </a:p>
          <a:p>
            <a:pPr algn="l">
              <a:spcBef>
                <a:spcPts val="800"/>
              </a:spcBef>
            </a:pPr>
            <a:r>
              <a:rPr sz="2200" b="0">
                <a:solidFill>
                  <a:srgbClr val="C8E0FF"/>
                </a:solidFill>
              </a:rPr>
              <a:t>Identités, stockage, réseaux et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09360"/>
            <a:ext cx="1136599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0C4EE"/>
                </a:solidFill>
              </a:rPr>
              <a:t>Microsoft Azure — Formation Bloc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Objectif de ce diaporama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Expliquer en profondeur chaque concept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Donner des exemples concrets entreprise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Guider les manipulations pas à pas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Préparer les apprenants aux erreurs réelles du terrain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Faciliter l’évaluation théorique et pratique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Méthode pédagogique recommandée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Pour chaque partie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Expliquer le concept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Montrer une démonstration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Faire réaliser un TP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Contrôler le résultat attendu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Faire verbaliser les bonnes pratiques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Plan global du bloc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Fondamentaux Azure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Gestion des identités (Entra ID)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Stockage Azure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Réseaux Azure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Sécurité Azure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Cas professionnel CloudCorp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Évaluation du bloc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Conclusion et suites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1. Introduction au bloc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Objectifs généraux (version détaillée)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Comprendre l’architecture Azure et sa hiérarchie logique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Groupes de management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Souscriptions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Groupes de ressources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Ressources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Comprendre l’infrastructure physique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Régions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Availability Zones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Paires de régions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Relier identité, stockage, réseau et sécurité dans une vision cohérente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1. Introduction au bloc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Compétences visées (version détaillée)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Administrer utilisateurs et groupes (manuel + dynamique)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Maîtriser RBAC : rôles, périmètres, principe de moindre privilège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Déployer un compte de stockage et choisir le bon niveau de redondance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Concevoir un VNet segmenté et sécurisé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Mettre en place NSG, MFA, Key Vault, Monitor, Policy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Proposer une architecture cloud simple et sécurisée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Architecture de référence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Présentation du framework Microsoft Azure Well-Architected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Focus principal pour ce bloc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Pilier Sécurité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Pilier Fiabilité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Message clé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Une architecture robuste n’est pas qu’un schéma technique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C’est un ensemble de décisions de gouvernance + sécurité + exploitation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Partie 1 – Fondamentaux Azure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Définition du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Le cloud = fourniture de services informatiques via Internet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serveurs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stockage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bases de données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réseau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logiciels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analyse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Idée clé : la ressource devient un service consommé à la demande.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IaaS, PaaS, SaaS (très détaillé)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IaaS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Azure loue le matériel (compute, réseau, stockage)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Le client gère OS, middleware, runtime, données, applications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Exemple : Azure VM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PaaS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Azure gère matériel + OS + runtime plateforme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Le client gère code et données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Exemple : App Service, Azure SQL Database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SaaS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Le fournisseur gère tout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Le client consomme l’application finale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Exemple : Microsoft 365, Outlook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Responsabilité partagée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Microsoft sécurise le cloud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datacenters physiques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matériel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réseau cœur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Le client sécurise ce qui est dans le cloud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identités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accès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données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configuration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OS des VM (en IaaS)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Règle simple : plus on est proche de IaaS, plus la responsabilité client augmente.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Avantages cloud (détaillés)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Financier : CapEx vers OpEx (facturation à l’usage)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Élasticité : scale-up et scale-out selon charge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Agilité : déploiement rapide mondial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Résilience : redondance native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Innovation : accès rapide à des services avancés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Limites cloud (à enseigner clairement)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Dépendance à Internet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Coûts difficiles sans gouvernance stricte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Souveraineté des données (Cloud Act, RGPD)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Risque de mauvaise configuration sécurité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Message formateur : le cloud ne supprime pas les responsabilités, il les déplace.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Microsoft Azure en 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Deuxième acteur majeur du cloud public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Écosystème &gt; 200 services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Forte intégration Microsoft (Windows, AD, M365)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Grande présence régionale mondiale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Capacités hybrides avancées (Azure Arc)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Portail Azure – prise en main guidée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À montrer en direct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menu global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barre de recherche universelle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sélection tenant/abonnement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Azure Cloud Shell (Bash/PowerShell)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création et partage de dashboards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Objectif pédagogique : rendre l’interface familière dès la première séance.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Organisation logique Azure (à mémoriser)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Tenant (Entra ID)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Management Groups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Subscriptions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Resource Groups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Resources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Point clé : RBAC et Policies héritent des niveaux supérieurs.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Abonnements : double frontière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Frontière de facturation : une facture par abonnement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Frontière d’accès : isolation sécurité des environnements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Exemples pédagogiques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abonnement Production verrouillé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abonnement Développement plus permissif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Resource Groups : cycle de vie partagé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Règles à retenir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une ressource appartient à un seul RG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suppression du RG = suppression totale de ses ressources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pas d’imbrication de RG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déplacement de ressources possible dans la majorité des cas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Règle d’or : même cycle de vie = même RG.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Tags : gouvernance opérationnelle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Métadonnées clé/valeur (Owner, Projet, Environnement, CostCenter)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Utiles pour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refacturation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filtrage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rapports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automatisation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Point important : une ressource ne récupère pas automatiquement les tags du RG.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Coûts et organisation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Le cloud se paie à l’heure / à la minute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Un serveur oublié allumé tout le week-end coûte de l’argent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Importance des conventions de nommage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Importance des Resource Locks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CanNotDelete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ReadOnly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Régions, AZ, paires de régions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Région : ensemble de datacenters proches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AZ : datacenters physiquement séparés dans une région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Paires de régions : reprise après sinistre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Exemple : France Central ↔ France South.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TP Fondamentaux – scénario guidé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Objectif : gouvernance de base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Étapes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Créer un RG cours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Ajouter tags obligatoires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Activer un verrou CanNotDelete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Vérifier dans Activity Log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Validation : ressource bien structurée et protégée contre suppression accidentelle.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Partie 2 – Gestion des identités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Introduction Entra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Nouveau nom de Azure Active Directory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IAM cloud (Identity-as-a-Service)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Vérifie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qui est l’utilisateur (authentification)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ce qu’il peut faire (autorisation)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S’applique à Azure, Microsoft 365 et SaaS tiers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Notion de tenant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Un tenant représente l’organisation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Instance dédiée et isolée Entra ID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Contient les objets d’identité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utilisateurs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groupes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rôles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applications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AD DS local vs Entra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AD DS (on-prem)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Kerberos, NTLM, LDAP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structure OU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GPO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Entra ID (cloud)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SAML, OAuth 2.0, OpenID Connect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structure plate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gestion appareils via Intune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Pont hybride : Entra Connect.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Utilisateurs, groupes, rôles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Utilisateur : identité unique (UPN)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Groupe : gestion des droits en masse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Rôle : ensemble de permissions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Message fort : ne pas attribuer les droits directement à une personne.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Création des utilisateurs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Méthodes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manuelle portail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import CSV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PowerShell / Azure CLI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synchronisation AD local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Point d’attention : cohérence des UPN et nommage.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Gestion mots de passe et SSPR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Règles de complexité activées par défaut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Protection contre mots de passe faibles/usuels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SSPR : autonomie utilisateur pour reset mot de passe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Bénéfice : moins de tickets support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Comptes internes et invités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Members : internes, cycle de vie complet géré par l’entreprise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Guests B2B : collaboration inter-entreprises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Cas d’usage : inviter un partenaire sans lui créer un compte interne complet.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Groupes de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Dediés à la gestion d’accès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Pas de boîte mail collaborative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Utiles pour applications, dossiers, ressources Azure, licences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Bonne pratique : architecture de groupes par rôles métiers.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Groupes Microsoft 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Dediés à la collaboration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Création automatique de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boîte mail partagée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calendrier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espace SharePoint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équipe Teams (selon cas)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RBAC (Role Based Access Control)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Le triptyque RBAC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Qui ? principal (user/groupe/app)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Quoi ? rôle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Où ? scope (abonnement, RG, ressource)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Rôles classiques : Owner, Contributor, Reader.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Principe du moindre privilège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Définition stricte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droits minimaux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au bon périmètre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pour la durée nécessaire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Objectif : limiter erreurs, abus, compromission.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Rôles Entra ID vs rôles Azure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Rôles Entra ID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administration de l’annuaire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exemple : Administrateur utilisateurs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Rôles Azure RBAC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administration des ressources cloud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exemple : Contributeur VM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MFA – Authentification multifacteur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Le mot de passe seul n’est plus suffisant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Message clé : 99,9% des compromissions stoppées par MFA (ordre de grandeur Microsoft)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Éviter SMS quand possible (risque SIM Swapping)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Préférer Authenticator, FIDO2, Windows Hello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Accès conditionnel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Moteur : Si condition, alors action.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Exemples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si connexion hors pays de confiance → bloquer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si compte admin → exiger MFA fort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si risque élevé → exiger contrôle supplémentaire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Comptes break-glass (urgence)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2 ou 3 comptes admin globaux d’urgence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mots de passe très complexes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exclus de certaines règles CA pour éviter l’auto-blocage total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identifiants conservés en coffre physique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TP Identité détaillé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Objectif : prouver RBAC en pratique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Étapes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Créer 3 utilisateurs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Créer 2 groupes sécurité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Affecter utilisateurs aux groupes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Attribuer Reader sur abonnement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Attribuer Contributor sur un RG unique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Test hors RG (échec 403)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Test dans RG (succès)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Partie 3 – Stockage Azure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Pourquoi utiliser le stockage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Plus de gestion SAN/NAS locale complexe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Capacité virtuelle illimitée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Service managé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Paiement au Go consommé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Résilience et SLA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Le matériel finit toujours par tomber en panne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Azure masque une partie de cette complexité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Introduire SLA (exemple 99,99%)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Point pédagogique : disponibilité n’est pas sauvegarde.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Redondance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Principe : la donnée n’est jamais sur un seul disque.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Choix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LRS : 3 copies synchrones même datacenter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ZRS : 3 copies sur 3 zones d’une région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GRS : LRS + réplication asynchrone région jumelle (6 copies)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Types de 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Blob : données non structurées (images, vidéos, logs, backups, VHD)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File : partage SMB/NFS cloud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Queue : messages asynchrones applicatifs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Table : NoSQL clé/valeur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Compte de stockage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Ressource parent nécessaire pour Blob/File/Queue/Table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Détermine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facturation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sécurité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localisation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performances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Règle nommage : unique mondial, minuscules + chiffres.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Performance Standard vs Premium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Standard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HDD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coût bas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majorité des cas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Premium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SSD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latence faible et stable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charges de travail exigeantes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Blob Storage : conteneurs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Conteneur = dossier principal logique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Compte : conteneurs illimités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Conteneur : blobs illimités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Structure plate interne (pseudo-dossiers par nom)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Niveaux d’accès Blob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Hot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accès fréquent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stockage plus cher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lecture peu coûteuse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Cool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accès rare (&gt;=30 jours)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stockage moins cher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pénalité en lecture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Archive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conservation long terme (&gt;=180 jours)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stockage très économique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Azure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partage de fichiers serverless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cas lift-and-shift du lecteur réseau Z: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accès Windows via script net use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partage de configuration entre applications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Sécurité stockage : clés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2 clés maîtres (Key1, Key2)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accès de type root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ne jamais coder en dur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rotation : changer une clé pendant usage de l’autre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Sécurité stockage : SAS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URL d’accès limitée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contrôle précis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qui (IP)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quoi (fichier/conteneur)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actions (lecture, écriture, suppression)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durée (expiration)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Sécurité stockage : IAM + chiffrement +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Interne : privilégier Entra ID + RBAC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Chiffrement au repos activé par défaut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Possibilité CMK via Key Vault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Restreindre accès réseau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Idéal : Private Endpoint, accès public désactivé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TP Stockage ultra détaillé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Créer compte stockage dans RG du cours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Vérifier onglets Réseau et Protection données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Créer conteneur Blob privé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Uploader une image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Copier URL Blob et tester dans navigateur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Observer erreur XML (attendue si privé)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Passer tier Hot vers Cool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Créer partage Azure Files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Cliquer Connect et générer script PowerShell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Monter le partage et vérifier lecteur Z: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Partie 4 – Réseaux Azure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Concepts fondamentaux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VNet = périmètre de sécurité réseau privé Azure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Subnet = segmentation logique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Adressage IP = base du routage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Communication intra-VNet autorisée par défaut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Plan d’adressage (CIDR)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Ne jamais créer un VNet au hasard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Éviter conflit avec réseau local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Prévoir extension future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Exemple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VNet 10.10.0.0/16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Web 10.10.1.0/24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App 10.10.2.0/24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Data 10.10.3.0/24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IP réservées Azure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Dans chaque subnet, Azure réserve 5 IP.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Exemple /24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256 théoriques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251 utilisables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À expliquer explicitement pendant la création du subnet.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NIC et 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VM et carte réseau sont deux ressources distinctes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Avantage : conserver NIC et règles si VM supprimée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Réattacher NIC à une nouvelle VM si besoin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IP privées vs publiques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IP privée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obligatoire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communication interne VNet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non routable Internet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IP publique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optionnelle et payante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nécessaire pour exposition externe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augmente surface d’attaque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Allocation dynamique vs statique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Dynamique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IP attribuée au démarrage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peut changer après stop/deallocate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Statique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IP verrouillée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utile pour dépendances réseau stables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NSG : pare-feu de base Azure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Filtrage niveau transport (L4)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Règles entrantes/sortantes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Priorité de 100 à 4096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Le plus petit nombre gagne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Règles par défaut priorité 65000 (non supprimables)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NSG :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Associer NSG au subnet pour cohérence globale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Utiliser NSG NIC pour exceptions ciblées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Documenter chaque règle critique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Éviter règles trop larges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Peering et VPN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VNet Peering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relie 2 VNets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trafic via backbone privé Microsoft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pas de transit Internet public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VPN Gateway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tunnel chiffré Azure ↔ on-prem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cas hybride entreprise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Exposition de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Load Balancer public devant les serveurs web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backend en IP privées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Bastion pour administration sécurisée via portail TLS 443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JIT pour ouvrir 22/3389 temporairement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Surface d’attaque et accès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Interdit : 22/3389 ouverts à 0.0.0.0/0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Minimum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restreindre à IP source fixe admin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Idéal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retirer IP publique VM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administrer via Bastion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activer JIT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TP Réseau détaillé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Créer VNet-CloudCorp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Créer Subnet-Web et Subnet-BDD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Créer NSG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Ajouter règle entrante limitée à votre IP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Associer NSG à Subnet-Web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Déployer VM-Web dans Subnet-Web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Déployer VM-BDD sans IP publique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Se connecter à VM-Web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Tester ping IP privée VM-BDD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Résultat : segmentation fonctionnelle + exposition contrôlée.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Partie 5 – Sécurité Azure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Principes généraux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Le cloud est un partenariat sécurité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Défense en profondeur obligatoire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Réduction maximale de la surface d’exposition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Défense en profondeur (couches)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Physique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Identité (Entra ID)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Périmètre (DDoS)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Réseau (NSG)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Compute (patching VM)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Application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Données (chiffrement)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Sécurisation des accès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MFA généralisée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RBAC strictement limité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moindre privilège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comptes admin dédiés (pas de mail/web quotidien)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Verrouillage des ressources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CanNotDelete : empêche suppression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ReadOnly : gel de modification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Utilité : éviter la catastrophe sur ressource critique en production.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Sauvegarde vs réplication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Réplication = panne matérielle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Sauvegarde = retour dans le temps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Exemple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ransomware chiffre VM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réplication copie les données chiffrées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seule la sauvegarde permet récupération saine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Chiffrement et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At Rest : actif par défaut (stockage, disques, DB)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In Transit : forcer HTTPS/TLS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CMK possible via Key Vault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Désactiver accès public inutile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Préférer Private Endpoints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Utiliser Managed Identities (pas de secrets en dur)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Microsoft Defender for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Tour de contrôle posture sécurité (CSPM)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Recommandations avec impact et correction guidée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Secure Score sur 100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Scan vulnérabilités (offres avancées)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Journalisation et supervision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Activity Log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Qui a fait quoi, quand, où (control plane)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Azure Monitor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santé/performance ressources (data plane)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Alertes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déclenchement proactif (CPU, événements sécurité, etc.)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Log Analytics et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Centralisation des logs (Monitor + Defender)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Base d’investigation sécurité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Première étape avant SIEM (Microsoft Sentinel)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RBAC vs Azure Policy (différence clé)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RBAC = qui a le droit d’agir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Policy = comment les ressources doivent être configurées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Exemple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RBAC autorise Bob à créer une VM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Policy interdit VM hors Europe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Effets de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Deny : bloque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Audit : signale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Append / Modify : complète/corrige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Message clé : même un admin global ne contourne pas une Policy active.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TP Sécurité détaillé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Ouvrir Defender for Cloud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Lire Secure Score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Choisir 1 recommandation à traiter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Assigner Policy Allowed locations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Créer alerte Create/Update Storage Account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Créer groupe d’actions email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Test piège : déployer stockage en East US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Observer erreur Disallowed by Policy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Partie 6 – Cas professionnel CloudCorp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Vous êtes Admin Cloud Junior chez CloudCorp.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Mission : concevoir, déployer et documenter une infrastructure de base sécurisée.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Infrastructure à réaliser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Annuaire : groupes Direction et Informatique + utilisateurs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Stockage : compte + Azure Files sécurisé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Réseau : VNet segmenté Public/Web et Privé/Data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Compute : 1 ou 2 VM pour service web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Sécurité : NSG strict (80/443 web, admin restreinte)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Supervision : alerte sécurité ou budget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Objectifs de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Ressources bien structurées (noms, tags, RG)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RBAC cohérent (Informatique contributeur, Direction lecteur facturation)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Stockage protégé (lock, public off)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Réseau segmenté et propre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Ports 22/3389 non ouverts au monde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Justification technique des choix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Livrables attendus (très précis)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Schéma architecture (VNet, subnets, VM, NSG)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Tableau ressources (nom, type, région, RG)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Plan IP détaillé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Matrice des droits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Captures (Secure Score, NSG, topologie)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Compte rendu technique 1-2 pages avec justification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Partie 7 – Évaluation du bloc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Théorique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QCM et compréhension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IaaS vs PaaS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choix LRS/ZRS/GRS selon scénario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IP réservées Azure dans un subnet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acronymes RBAC, NSG, MFA, VNet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diagnostic de problème d’accès RDP/SSH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QCM type (corrigé)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Modèle où le client gère l’OS ?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Réponse : IaaS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Bonne pratique droits d’accès ?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Réponse : attribuer via groupe RBAC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Tier le moins cher long terme ?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Réponse : Archive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IP réservées par Azure par subnet ?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Réponse : 5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NSG priorité 150 vs 200 ?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Réponse : la règle 150 s’applique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Questions courtes (attendus formateur)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Différence haute dispo vs sauvegarde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Définition moindre privilège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Différence RBAC vs Policy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Attendu : réponses courtes, exactes, orientées exploitation réelle.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Évaluation 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Demandes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Créer utilisateur Audit + groupe Lecteurs-Securite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Attribuer Reader sur abonnement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Déployer stockage LRS + conteneur privé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Créer VNet-Examen 10.1.0.0/16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Créer Subnet-App 10.1.1.0/24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NSG : HTTPS autorisé, reste bloqué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Fournir preuves captures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Critères d’évaluation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Maîtrise navigation portail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Rigueur configuration (noms/tags)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Respect sécurité (pas de 22/3389 ouverts Internet)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Capacité d’explication orale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Qualité des documents rendus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Partie 8 – Découpage en séances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Séance 1 : cloud, Azure, gouvernance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Séance 2 : Entra ID, utilisateurs, groupes, RBAC, MFA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Séance 3 : stockage et sécurisation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Séance 4 : VNet, subnet, IP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Séance 5 : NSG, Bastion, peering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Séance 6 : Defender, Monitor, Policy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Séance 7 : cas global CloudCorp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Séance 8 : évaluation + synthèse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Séance 1 – conducteur détaillé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Casser l’appréhension du cloud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Expliquer hiérarchie Azure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Démo portail + Cloud Shell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TP RG/tags/lock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Débrief erreurs de gouvernance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Séance 2 – conducteur détaillé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Entra ID : rôle et périmètre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AD local vs Entra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Création users/groups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RBAC sur scopes différents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MFA et accès conditionnel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TP permissions 403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Séance 3 – conducteur détaillé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Types de stockage et cas d’usage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LRS/ZRS/GRS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Blob tiers Hot/Cool/Archive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Azure Files montage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RBAC/SAS/Private Endpoint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TP Blob + Files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Séance 4 – conducteur détaillé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CIDR et plan IP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VNet + subnets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5 IP réservées Azure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IP privée/publique dynamique/statique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TP segmentation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Séance 5 – conducteur détaillé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NSG : règles et priorités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Association subnet vs NIC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RDP/SSH sécurisé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Bastion/JIT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VNet peering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TP connectivité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Séance 6 – conducteur détaillé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Defender posture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Secure Score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Activity Log vs Monitor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alertes et groupe d’actions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Policy Deny/Audit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TP conformité région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Séance 7 – conducteur détaillé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Lancement du cas CloudCorp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Réalisation de l’architecture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Contrôles sécurité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Revue croisée des rendus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Séance 8 – conducteur détaillé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QCM final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mini-déploiement chronométré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soutenance orale 5 min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correction et plan de progression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Check-list formateur avant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RG cohérent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tags présents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RBAC minimum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MFA active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ports admin non exposés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logs et alertes actifs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documentation complète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Erreurs fréquentes à faire corriger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droits directs utilisateur au lieu des groupes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usage excessif du rôle Owner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confusion entre rôle Entra et rôle Azure RBAC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IP publiques inutiles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NSG trop permissif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absence de preuve de tests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Trame de compte rendu étudiant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Contexte et objectifs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Architecture choisie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Configuration sécurité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Tests réalisés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Résultats et limites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Pistes d’amélioration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Conclusion – bilan des acquis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À la fin du bloc, l’apprenant sait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naviguer et gouverner Azure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gérer identités et droits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déployer stockage sécurisé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concevoir réseau virtuel segmenté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appliquer défense en profondeur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superviser et imposer conformité de base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Ouvertures pédagogiques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Azure Virtual Machines avancé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Azure Backup et Site Recovery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Intune (gestion terminaux)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Intégration Microsoft 365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SOC avec Sentinel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Certifications AZ-900 puis AZ-104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Fin du module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Questions / Réponses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Merci à tous.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Masterclass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Mode d’emploi formateur (ultra détaillé)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Cette annexe sert de script opérationnel complet pour animer chaque séance.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Elle complète les slides principales avec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trame orale prête à l’emploi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démonstrations détaillées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questions de vérification immédiate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erreurs typiques + remédiations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critères d’évaluation observables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1 – Fondamentaux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Script oral conseillé (10-12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Commencer par un exemple réel : “ouvrir un serveur en 3 minutes sans achat matériel”.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Expliquer CapEx vs OpEx avec un cas PME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CapEx : achat serveur + baie + maintenance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OpEx : paiement mensuel à l’usage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Enchaîner sur IaaS/PaaS/SaaS avec une analogie simple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IaaS = louer un appartement vide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PaaS = appartement meublé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SaaS = hôtel clé en main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1 – Fondamentaux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Démonstration guidée (15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Ouvrir portail Azure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Montrer la recherche globale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Rechercher "Groupes de ressources"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Créer un RG de test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Ajouter tags Owner, Env, CostCenter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Poser un verrou CanNotDelete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Ouvrir Activity Log et retrouver l’opération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Résultat attendu : l’apprenant visualise gouvernance + traçabilité.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1 – Fondamentaux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Questions de vérification rapide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Quelle différence entre abonnement et groupe de ressources ?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Pourquoi la région choisie impacte la conformité ?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Pourquoi la suppression d’un RG est critique ?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Une ressource peut-elle appartenir à deux RG ?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À quel niveau appliquer une Policy pour un effet global ?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1 – Fondamentaux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Erreurs fréquentes et corrections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Erreur : créer des ressources dans plusieurs RG sans logique.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Correction : regrouper par cycle de vie/projet.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Erreur : oublier les tags.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Correction : checklist obligatoire avant validation.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Erreur : utiliser la mauvaise région.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Correction : définir une liste de régions autorisées dès le départ.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2 – Identité (Entra ID)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Script oral conseillé (12-15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Introduire Entra ID comme "portier du cloud".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Séparer très clairement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Authentification = qui êtes-vous ?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Autorisation = que pouvez-vous faire ?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Expliquer pourquoi les droits doivent passer par des groupes.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Expliquer le risque d’un compte admin utilisé pour la bureautique.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2 – Identité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Démo complète RBAC (20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Créer 3 utilisateurs de test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Créer groupe GG-IT-Contrib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Ajouter utilisateurs au groupe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Assigner rôle Reader sur abonnement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Assigner rôle Contributor sur RG ciblé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Se connecter avec un compte de test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Tenter création stockage hors RG (échec)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Tenter création stockage dans RG (succès)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Message clé : un seul principal, deux scopes, deux comportements différents.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2 – Identité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MFA et accès conditionnel (détaillé)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Forcer l’enrôlement MFA dès première connexion.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Préférer Authenticator / FIDO2.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Expliquer pourquoi SMS est moins robuste.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Construire une policy conditionnelle type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Si rôle administrateur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Alors MFA obligatoire + appareil conforme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2 – Identité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Break-glass (procédure)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Créer 2 comptes d’urgence maximum.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Générer mots de passe longs et hors gestionnaire partagé courant.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Stocker les secrets dans un coffre physique contrôlé.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Exclure ces comptes des politiques risquant l’auto-blocage total.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Auditer mensuellement leur non-utilisation.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2 – Identité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Erreurs critiques à pénaliser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Rôle Owner attribué pour “aller vite”.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Compte invité avec privilèges excessifs.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MFA non activée sur compte administrateur.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Attribution directe des droits à un utilisateur au lieu d’un groupe.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3 – Stockage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Script oral conseillé (12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Expliquer la différence entre disponibilité, redondance et sauvegarde.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Donner le cas réel : suppression accidentelle + réplication.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Faire verbaliser : “la redondance ne remplace pas la sauvegarde”.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3 – Stockage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Atelier Blob détaillé (20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Créer compte stockage (standard, LRS)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Vérifier paramètres réseau et protection données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Créer conteneur privé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Uploader une image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Copier URL blob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Tester accès navigateur (erreur attendue)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Modifier tier Hot → Cool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Revenir dans métriques/transactions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Objectif : lier sécurité + coût + exploitation.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3 – Stockage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Atelier Azure Files détaillé (15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Créer partage de fichiers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Ouvrir Connect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Choisir script PowerShell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Exécuter le script sur machine locale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Vérifier apparition lecteur réseau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Créer/supprimer fichier test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Point d’explication : protocole SMB et cas d’usage lift-and-shift.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3 – Stockage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SAS vs clés d’accès (comparatif)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Clé d’accès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accès global puissant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à éviter dans les usages quotidiens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SAS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accès limité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borné dans le temps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plus adapté au partage temporaire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Bonne pratique : interne via RBAC Entra ID, externe via SAS court.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3 – Stockage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Erreurs fréquentes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Conteneur rendu public sans besoin métier.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Clé d’accès copiée dans un script applicatif.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Aucun plan de rotation des clés.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Mauvais choix de tier (Hot partout) entraînant surcoûts.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4 – Réseau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Script oral conseillé (12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Définir VNet comme périmètre privé de l’entreprise.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Expliquer la segmentation (Web/App/Data) comme principe de réduction de risque.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Expliquer que toute IP publique expose la ressource aux scans automatiques.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4 – Réseau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TP VNet + NSG (25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Créer VNet 10.10.0.0/16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Créer Subnet-Web 10.10.1.0/24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Créer Subnet-BDD 10.10.2.0/24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Créer NSG dédié Web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Règle entrante RDP/SSH limitée à IP formateur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Associer NSG au subnet Web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Déployer VM-Web (IP publique)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Déployer VM-BDD (sans IP publique)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Tester communication privée VM-Web → VM-BDD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Résultat attendu : administration contrôlée, backend non exposé.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4 – Réseau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NSG : exercice de priorité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Cas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Règle A priorité 110 : deny port 80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Règle B priorité 120 : allow port 80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Question : résultat ?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Réponse : trafic bloqué (règle 110 l’emporte).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Objectif : ancrer la logique d’évaluation des règles.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4 – Réseau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RDP/SSH sécurisé : standard minimal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Jamais de source 0.0.0.0/0 sur 22/3389.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Limiter source à IP fixe admin si besoin temporaire.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Préférer Bastion + JIT.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Retirer IP publique des VM sensibles.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4 – Réseau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Erreurs fréquentes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Plan CIDR en conflit avec réseau on-prem.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NSG posé sur mauvaise couche (NIC au lieu subnet attendu).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Oubli de documenter les règles et leur justification.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IP publique attribuée “par défaut” sans besoin.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5 – Sécurité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Script oral conseillé (15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Introduire la défense en profondeur comme seule approche réaliste.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Montrer que “sécurisé” = identité + réseau + données + supervision.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Faire comprendre que logs et alertes sont non négociables en production.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5 – Sécurité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TP Defender + Policy + Monitor (30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Ouvrir Defender for Cloud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Lire Secure Score et top recommandations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Traiter une recommandation prioritaire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Assigner Policy Allowed locations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Tenter déploiement en région interdite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Observer blocage Disallowed by Policy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Créer alerte Create/Update Storage Account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Associer groupe d’actions email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5 – Sécurité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Activity Log vs Monitor (explication pédagogique)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Activity Log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plan de contrôle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qui a modifié quoi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Monitor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plan de données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  ◦ santé et performance des ressources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Formule à faire retenir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Activity Log = gouvernance des actions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Monitor = opérationnel des services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5 – Sécurité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Secure by default (checklist)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MFA active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RBAC minimum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ports admin fermés Internet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accès public PaaS désactivé si inutile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secrets retirés du code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managed identity utilisée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logs centralisés actifs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alertes critiques configurées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5 – Sécurité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Erreurs majeures à sanctionner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VM admin avec 3389/22 ouverts monde.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Stockage public non justifié.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Absence de traces exploitables.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Déploiement hors région autorisée.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6 – Cas CloudCorp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Conduite du cas (mode projet)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Étape 1 : cadrage</a:t>
            </a:r>
          </a:p>
          <a:p>
            <a:pPr algn="l"/>
            <a:r>
              <a:rPr sz="1400" b="0">
                <a:solidFill>
                  <a:srgbClr val="212121"/>
                </a:solidFill>
              </a:rPr>
              <a:t>• objectifs fonctionnels</a:t>
            </a:r>
          </a:p>
          <a:p>
            <a:pPr algn="l"/>
            <a:r>
              <a:rPr sz="1400" b="0">
                <a:solidFill>
                  <a:srgbClr val="212121"/>
                </a:solidFill>
              </a:rPr>
              <a:t>• contraintes sécurité</a:t>
            </a:r>
          </a:p>
          <a:p>
            <a:pPr algn="l"/>
            <a:r>
              <a:rPr sz="1400" b="0">
                <a:solidFill>
                  <a:srgbClr val="212121"/>
                </a:solidFill>
              </a:rPr>
              <a:t>Étape 2 : conception</a:t>
            </a:r>
          </a:p>
          <a:p>
            <a:pPr algn="l"/>
            <a:r>
              <a:rPr sz="1400" b="0">
                <a:solidFill>
                  <a:srgbClr val="212121"/>
                </a:solidFill>
              </a:rPr>
              <a:t>• schéma logique</a:t>
            </a:r>
          </a:p>
          <a:p>
            <a:pPr algn="l"/>
            <a:r>
              <a:rPr sz="1400" b="0">
                <a:solidFill>
                  <a:srgbClr val="212121"/>
                </a:solidFill>
              </a:rPr>
              <a:t>• plan IP</a:t>
            </a:r>
          </a:p>
          <a:p>
            <a:pPr algn="l"/>
            <a:r>
              <a:rPr sz="1400" b="0">
                <a:solidFill>
                  <a:srgbClr val="212121"/>
                </a:solidFill>
              </a:rPr>
              <a:t>• matrice RBAC</a:t>
            </a:r>
          </a:p>
          <a:p>
            <a:pPr algn="l"/>
            <a:r>
              <a:rPr sz="1400" b="0">
                <a:solidFill>
                  <a:srgbClr val="212121"/>
                </a:solidFill>
              </a:rPr>
              <a:t>Étape 3 : implémentation</a:t>
            </a:r>
          </a:p>
          <a:p>
            <a:pPr algn="l"/>
            <a:r>
              <a:rPr sz="1400" b="0">
                <a:solidFill>
                  <a:srgbClr val="212121"/>
                </a:solidFill>
              </a:rPr>
              <a:t>• création ressources</a:t>
            </a:r>
          </a:p>
          <a:p>
            <a:pPr algn="l"/>
            <a:r>
              <a:rPr sz="1400" b="0">
                <a:solidFill>
                  <a:srgbClr val="212121"/>
                </a:solidFill>
              </a:rPr>
              <a:t>• contrôles sécurité</a:t>
            </a:r>
          </a:p>
          <a:p>
            <a:pPr algn="l"/>
            <a:r>
              <a:rPr sz="1400" b="0">
                <a:solidFill>
                  <a:srgbClr val="212121"/>
                </a:solidFill>
              </a:rPr>
              <a:t>Étape 4 : validation</a:t>
            </a:r>
          </a:p>
          <a:p>
            <a:pPr algn="l"/>
            <a:r>
              <a:rPr sz="1400" b="0">
                <a:solidFill>
                  <a:srgbClr val="212121"/>
                </a:solidFill>
              </a:rPr>
              <a:t>• tests techniques</a:t>
            </a:r>
          </a:p>
          <a:p>
            <a:pPr algn="l"/>
            <a:r>
              <a:rPr sz="1400" b="0">
                <a:solidFill>
                  <a:srgbClr val="212121"/>
                </a:solidFill>
              </a:rPr>
              <a:t>• preuves captures</a:t>
            </a:r>
          </a:p>
          <a:p>
            <a:pPr algn="l"/>
            <a:r>
              <a:rPr sz="1400" b="0">
                <a:solidFill>
                  <a:srgbClr val="212121"/>
                </a:solidFill>
              </a:rPr>
              <a:t>• soutenance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6 – Matrice de droits (modèle)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Exemple cible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Groupe Direction : Reader facturation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Groupe Informatique : Contributor sur RG projet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Groupe Audit : Reader abonnement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Points à vérifier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pas de rôle Owner inutile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scopes cohérents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justification métier documentée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6 – Plan d’adressage (modèle)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• VNet : 10.20.0.0/16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Subnet-Web : 10.20.1.0/24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Subnet-App : 10.20.2.0/24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Subnet-Data : 10.20.3.0/24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Subnet-Management : 10.20.10.0/24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Vérifications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pas de chevauchement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capacité suffisante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documentation mise à jour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7 – Évaluation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Barème détaillé (proposition)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Théorie (40%)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compréhension concepts : 15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sécurité : 15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gouvernance/coûts : 10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Pratique (60%)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déploiement correct : 20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sécurité appliquée : 20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documentation preuves : 10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soutenance : 10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7 – Rubrique de soutenance (5 minutes)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Question 1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Pourquoi ce découpage réseau ?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Question 2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Pourquoi ces rôles RBAC à ces scopes ?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Question 3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Comment prouvez-vous la conformité sécurité ?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Question 4 :</a:t>
            </a:r>
          </a:p>
          <a:p>
            <a:pPr algn="l"/>
            <a:r>
              <a:rPr sz="1600" b="0">
                <a:solidFill>
                  <a:srgbClr val="212121"/>
                </a:solidFill>
              </a:rPr>
              <a:t>• Si un audit arrive demain, que montrez-vous en premier ?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7 – Critères d’excellence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Architecture claire et argumentée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Sécurité proactive, pas uniquement réactive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Documentation propre, lisible, exploitable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Capacité à expliquer les compromis (coût, sécurité, exploitation)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8 – Préparation certification</a:t>
            </a:r>
          </a:p>
          <a:p>
            <a:pPr algn="l"/>
            <a:r>
              <a:rPr sz="1500" b="0">
                <a:solidFill>
                  <a:srgbClr val="C8E0FF"/>
                </a:solidFill>
              </a:rPr>
              <a:t>Liens pédagogiques à travailler en classe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AZ-900 : vocabulaire cloud et fondamentaux Azure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AZ-104 : administration Azure opérationnelle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Routine recommandée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10 questions QCM en début de séance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10 minutes correction collective argumentée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8 – Banque de questions bonus (diagnostic)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Pourquoi ZRS peut être préféré à LRS dans certains cas sans aller jusqu’à GRS ?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Dans quel cas Contributor sur abonnement devient dangereux ?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Pourquoi un Private Endpoint réduit-il la surface d’attaque ?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Que se passe-t-il si une Policy Deny est assignée au mauvais niveau ?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Comment prouver qu’un accès est bien limité au moindre privilège ?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8 – Correctifs attendus (niveau expert)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Utiliser groupes de sécurité nommés par fonction métier.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Introduire revue périodique des rôles (access review).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Centraliser journaux dans Log Analytics.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Définir alertes prioritaires (sécurité + disponibilité + coût).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Formaliser procédure d’escalade incident.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Annexe finale – Message de clôture formateur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65992" cy="5458968"/>
          </a:xfrm>
          <a:prstGeom prst="rect">
            <a:avLst/>
          </a:prstGeom>
          <a:noFill/>
        </p:spPr>
        <p:txBody>
          <a:bodyPr wrap="square">
            <a:normAutofit fontScale="100000" lnSpcReduction="20000"/>
          </a:bodyPr>
          <a:lstStyle/>
          <a:p>
            <a:pPr algn="l"/>
            <a:r>
              <a:rPr sz="1800" b="0">
                <a:solidFill>
                  <a:srgbClr val="212121"/>
                </a:solidFill>
              </a:rPr>
              <a:t>• Ce bloc valide les bases du métier d’administrateur cloud.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La valeur professionnelle vient de la rigueur :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design propre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sécurité systématique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  ◦ preuves et documentation</a:t>
            </a:r>
          </a:p>
          <a:p>
            <a:pPr algn="l"/>
            <a:r>
              <a:rPr sz="1800" b="0">
                <a:solidFill>
                  <a:srgbClr val="212121"/>
                </a:solidFill>
              </a:rPr>
              <a:t>• L’objectif n’est pas seulement de “faire marcher”, mais de “faire marcher de manière gouvernée et sécurisée”.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